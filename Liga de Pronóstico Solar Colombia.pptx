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32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337" r:id="rId21"/>
    <p:sldId id="340" r:id="rId22"/>
    <p:sldId id="343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657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268433b67_2_11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5268433b67_2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proyecto: qué es, qué contiene el repositorio y el paso a paso para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.zip es la carpeta del repositorio. Se sube tal cual a GitHub y desde ahí funciona sin servidor propio.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objetivos: API, integración de fuentes, deep learning y flujo de trabajo reproducible con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completo lo orquesta liga/run_diario.py. GitHub Actions lo ejecuta y hace commit de los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rezago de XM es clave: el dato real de mañana llega uno o dos días después, por eso la calificación es diferida.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Colab en vivo. get_collections() lista MetricId, Entity y Type de cada métrica; así descubren otras variables (precio de bolsa PrecBolsNaci, demanda DemaCome) para sus propios modelos. ini y fin son fechas tipo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estudiantes solo tocan la carpeta modelos/. Todo lo demás es la infraestructura de la liga.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modo demo sirve para probar en clase aunque falle la red. El backtest re-evalúa días pasados para tener resultados desde el primer día.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Progresión didáctica: estadística ingenua, luego física, luego deep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pedagógico: entrenar con el mismo rezago con el que se predice evita la fuga de información.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Evaluamos solo horas de sol porque las noches valen cero y inflarían el desempeño aparente.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la gráfica viene del modo demo. La primera corrida real con backtest de 14 días reemplaza esta imagen en el leaderboard.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paso 2 falla por la API de XM, copiar el error del log de Actions y se ajusta liga/xm.py. La descarga usa pydataxm, la librería oficial de XM; no se pudo probar contra el servidor real desde el entorno donde se construyó.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guía completa está en GUIA_CLASE.md dentro del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workflow de validación corre sin secretos, así que es seguro recibir PRs desde forks.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Sugerir que cada pareja elija un reto y lo documente en la descripción del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Requiere el secreto ANTHROPIC_API_KEY. Alternativa sin clave: hacer las mismas preguntas desde Cowork con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en el backtest el clima es casi observado; el salto de capacidad rompe la escala, se corrige normalizando por capacidad instalada; las noches valen 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26BCA-7CE2-43AF-B280-E378D81E1A7D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36325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26BCA-7CE2-43AF-B280-E378D81E1A7D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7875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seño personalizado">
  <p:cSld name="3_Diseño personalizad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0633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016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open-meteo.com/en/docs" TargetMode="External"/><Relationship Id="rId4" Type="http://schemas.openxmlformats.org/officeDocument/2006/relationships/hyperlink" Target="https://github.com/EquipoAnaliticaXM/API_X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0"/>
          <p:cNvSpPr/>
          <p:nvPr/>
        </p:nvSpPr>
        <p:spPr>
          <a:xfrm>
            <a:off x="2164777" y="3836619"/>
            <a:ext cx="7862455" cy="706583"/>
          </a:xfrm>
          <a:prstGeom prst="roundRect">
            <a:avLst>
              <a:gd name="adj" fmla="val 10785"/>
            </a:avLst>
          </a:prstGeom>
          <a:solidFill>
            <a:srgbClr val="D4E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</a:endParaRPr>
          </a:p>
        </p:txBody>
      </p:sp>
      <p:sp>
        <p:nvSpPr>
          <p:cNvPr id="145" name="Google Shape;145;p40"/>
          <p:cNvSpPr txBox="1"/>
          <p:nvPr/>
        </p:nvSpPr>
        <p:spPr>
          <a:xfrm>
            <a:off x="2344950" y="3987278"/>
            <a:ext cx="7502100" cy="405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6933" algn="ctr">
              <a:spcBef>
                <a:spcPts val="167"/>
              </a:spcBef>
            </a:pPr>
            <a:r>
              <a:rPr lang="pt-BR" sz="1867" b="1" dirty="0">
                <a:latin typeface="Source Sans Pro SemiBold" panose="020F0502020204030204" pitchFamily="34" charset="0"/>
                <a:cs typeface="Tahoma"/>
              </a:rPr>
              <a:t>Liga de Prognósticos solar: API XM + GitHub </a:t>
            </a:r>
            <a:endParaRPr lang="pt-BR" sz="1867" dirty="0">
              <a:latin typeface="Source Sans Pro SemiBold" panose="020F0502020204030204" pitchFamily="34" charset="0"/>
              <a:cs typeface="Tahoma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19C271A-D4D8-446C-639B-69D459974793}"/>
              </a:ext>
            </a:extLst>
          </p:cNvPr>
          <p:cNvSpPr txBox="1"/>
          <p:nvPr/>
        </p:nvSpPr>
        <p:spPr>
          <a:xfrm>
            <a:off x="3366459" y="4693861"/>
            <a:ext cx="5415232" cy="10388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0" indent="0" algn="just">
              <a:lnSpc>
                <a:spcPts val="2520"/>
              </a:lnSpc>
              <a:buNone/>
            </a:pPr>
            <a:r>
              <a:rPr lang="en-US" sz="18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Kaggle vivo con </a:t>
            </a:r>
            <a:r>
              <a:rPr lang="en-US" sz="1800" dirty="0" err="1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</a:t>
            </a:r>
            <a:r>
              <a:rPr lang="en-US" sz="18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reales de XM: </a:t>
            </a:r>
            <a:r>
              <a:rPr lang="en-US" sz="1800" dirty="0" err="1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</a:t>
            </a:r>
            <a:r>
              <a:rPr lang="en-US" sz="18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día </a:t>
            </a:r>
            <a:r>
              <a:rPr lang="en-US" sz="1800" dirty="0" err="1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</a:t>
            </a:r>
            <a:r>
              <a:rPr lang="en-US" sz="18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red neuronal </a:t>
            </a:r>
            <a:r>
              <a:rPr lang="en-US" sz="1800" dirty="0" err="1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pronostica</a:t>
            </a:r>
            <a:r>
              <a:rPr lang="en-US" sz="18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la </a:t>
            </a:r>
            <a:r>
              <a:rPr lang="en-US" sz="1800" dirty="0" err="1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generación</a:t>
            </a:r>
            <a:r>
              <a:rPr lang="en-US" sz="18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solar del </a:t>
            </a:r>
            <a:r>
              <a:rPr lang="en-US" sz="1800" dirty="0" err="1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país</a:t>
            </a:r>
            <a:r>
              <a:rPr lang="en-US" sz="18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 la </a:t>
            </a:r>
            <a:r>
              <a:rPr lang="en-US" sz="1800" dirty="0" err="1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clase</a:t>
            </a:r>
            <a:r>
              <a:rPr lang="en-US" sz="18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 err="1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compite</a:t>
            </a:r>
            <a:r>
              <a:rPr lang="en-US" sz="18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 err="1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</a:t>
            </a:r>
            <a:r>
              <a:rPr lang="en-US" sz="18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 err="1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ganarle</a:t>
            </a:r>
            <a:r>
              <a:rPr lang="en-US" sz="18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1600" y="0"/>
            <a:ext cx="4470400" cy="6858000"/>
          </a:xfrm>
          <a:prstGeom prst="rect">
            <a:avLst/>
          </a:prstGeom>
          <a:gradFill rotWithShape="1">
            <a:gsLst>
              <a:gs pos="0">
                <a:srgbClr val="E3B04B">
                  <a:alpha val="90000"/>
                </a:srgbClr>
              </a:gs>
              <a:gs pos="35000">
                <a:srgbClr val="C98A2E">
                  <a:alpha val="90000"/>
                </a:srgbClr>
              </a:gs>
              <a:gs pos="70000">
                <a:srgbClr val="B0512F">
                  <a:alpha val="90000"/>
                </a:srgbClr>
              </a:gs>
              <a:gs pos="100000">
                <a:srgbClr val="1F2D28">
                  <a:alpha val="90000"/>
                </a:srgbClr>
              </a:gs>
            </a:gsLst>
            <a:path path="circle">
              <a:fillToRect l="70000" t="30000" r="30000" b="70000"/>
            </a:path>
          </a:gra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3B0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CLASE DE DEEP LEARNING · ENERGÍAS RENOVABLES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280120"/>
            <a:ext cx="6802120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7F2EA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Liga de Pronóstico Solar Colombia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3934420"/>
            <a:ext cx="6409690" cy="985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Kaggle vivo con datos reales de XM: cada día una red neuronal pronostica la generación solar del país y la clase compite por ganarle.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3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Juan Carlos Vega · Universidad de los Andes · Escuela de Geociencias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¿QUÉ ES ESTE PROYECTO?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30920"/>
            <a:ext cx="9810750" cy="160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Un repositorio de GitHub que, </a:t>
            </a:r>
            <a:r>
              <a:rPr lang="en-US" sz="3600" b="1" dirty="0">
                <a:solidFill>
                  <a:srgbClr val="B0512F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solo y todos los días</a:t>
            </a: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, descarga datos, entrena, pronostica y califica.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3216176"/>
            <a:ext cx="3380284" cy="1636713"/>
          </a:xfrm>
          <a:prstGeom prst="roundRect">
            <a:avLst>
              <a:gd name="adj" fmla="val 6014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73150" y="3473351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 servidor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3150" y="3849191"/>
            <a:ext cx="29519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 corre gratis en GitHub Actions a las 7:00 a. m. hora Colombia.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09" y="3216176"/>
            <a:ext cx="3380383" cy="1636713"/>
          </a:xfrm>
          <a:prstGeom prst="roundRect">
            <a:avLst>
              <a:gd name="adj" fmla="val 6014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662984" y="3473351"/>
            <a:ext cx="295201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datos reales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2984" y="3849191"/>
            <a:ext cx="295201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Generación solar del Sistema Interconectado Nacional publicada por XM.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741" y="3216176"/>
            <a:ext cx="3380284" cy="1636713"/>
          </a:xfrm>
          <a:prstGeom prst="roundRect">
            <a:avLst>
              <a:gd name="adj" fmla="val 6014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252916" y="3473351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Competitivo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2916" y="3849191"/>
            <a:ext cx="295191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estudiante sube su modelo y un leaderboard se actualiza solo.</a:t>
            </a:r>
            <a:endParaRPr lang="en-US" sz="1400" dirty="0"/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58CC799A-7958-79D6-503B-7F9A3B36EC45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17" name="Google Shape;168;p43">
            <a:extLst>
              <a:ext uri="{FF2B5EF4-FFF2-40B4-BE49-F238E27FC236}">
                <a16:creationId xmlns:a16="http://schemas.microsoft.com/office/drawing/2014/main" id="{30916458-BFCA-A04D-3584-E65A870BBEB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6F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OBJETIVOS DE APRENDIZAJE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Qué se llevan los estudiantes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41736"/>
            <a:ext cx="5187950" cy="1387872"/>
          </a:xfrm>
          <a:prstGeom prst="roundRect">
            <a:avLst>
              <a:gd name="adj" fmla="val 7092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73150" y="2398911"/>
            <a:ext cx="481380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Consumir una API real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3150" y="2774752"/>
            <a:ext cx="481380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Leer datos del mercado eléctrico con la API pública de XM, sin clave.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8075" y="2141736"/>
            <a:ext cx="5187950" cy="1387872"/>
          </a:xfrm>
          <a:prstGeom prst="roundRect">
            <a:avLst>
              <a:gd name="adj" fmla="val 7092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445250" y="2398911"/>
            <a:ext cx="481380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Unir energía y clima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5250" y="2774752"/>
            <a:ext cx="481380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Combinar generación con pronóstico meteorológico de Open-Meteo.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3713758"/>
            <a:ext cx="5187950" cy="1387872"/>
          </a:xfrm>
          <a:prstGeom prst="roundRect">
            <a:avLst>
              <a:gd name="adj" fmla="val 7092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1073150" y="3970933"/>
            <a:ext cx="481380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Deep Learning aplicado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3150" y="4346773"/>
            <a:ext cx="481380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Entrenar una red recurrente (GRU) que pronostica 24 horas.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8075" y="3713758"/>
            <a:ext cx="5187950" cy="1387872"/>
          </a:xfrm>
          <a:prstGeom prst="roundRect">
            <a:avLst>
              <a:gd name="adj" fmla="val 7092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445250" y="3970933"/>
            <a:ext cx="481380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· Ciencia reproducible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5250" y="4346773"/>
            <a:ext cx="481380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Trabajar con GitHub: fork, Pull Request, Actions y evaluación honesta.</a:t>
            </a:r>
            <a:endParaRPr lang="en-US" sz="14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58A1FC66-8DA9-D97E-A83E-D01CB4DB9642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20" name="Google Shape;168;p43">
            <a:extLst>
              <a:ext uri="{FF2B5EF4-FFF2-40B4-BE49-F238E27FC236}">
                <a16:creationId xmlns:a16="http://schemas.microsoft.com/office/drawing/2014/main" id="{0C5A3B89-9C95-C023-4C02-9C8397AB486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Cada mañana, cuatro pasos automáticos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41736"/>
            <a:ext cx="2254250" cy="2053233"/>
          </a:xfrm>
          <a:prstGeom prst="roundRect">
            <a:avLst>
              <a:gd name="adj" fmla="val 4794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47750" y="2373511"/>
            <a:ext cx="18444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PASO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2675731"/>
            <a:ext cx="184442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XM · pydataxm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3038872"/>
            <a:ext cx="1844421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Librería oficial de XM: generación horaria por planta; se suman las solares.</a:t>
            </a:r>
            <a:endParaRPr lang="en-US" sz="1300" dirty="0"/>
          </a:p>
        </p:txBody>
      </p:sp>
      <p:pic>
        <p:nvPicPr>
          <p:cNvPr id="8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49600" y="3104852"/>
            <a:ext cx="355600" cy="127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84575" y="2257227"/>
            <a:ext cx="2254250" cy="1822152"/>
          </a:xfrm>
          <a:prstGeom prst="roundRect">
            <a:avLst>
              <a:gd name="adj" fmla="val 5402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3816350" y="2489002"/>
            <a:ext cx="18444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4F6F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PASO 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16350" y="2791222"/>
            <a:ext cx="184442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Open-Meteo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816350" y="3154363"/>
            <a:ext cx="1844421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Radiación, nubosidad y temperatura en 4 núcleos solares.</a:t>
            </a:r>
            <a:endParaRPr lang="en-US" sz="1300" dirty="0"/>
          </a:p>
        </p:txBody>
      </p:sp>
      <p:pic>
        <p:nvPicPr>
          <p:cNvPr id="13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18200" y="3104852"/>
            <a:ext cx="355600" cy="127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53175" y="2257227"/>
            <a:ext cx="2254250" cy="1822152"/>
          </a:xfrm>
          <a:prstGeom prst="roundRect">
            <a:avLst>
              <a:gd name="adj" fmla="val 5402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6584950" y="2489002"/>
            <a:ext cx="18444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77A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PASO 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84950" y="2791222"/>
            <a:ext cx="184442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84950" y="3154363"/>
            <a:ext cx="1844421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archivo de modelos/ predice las 24 horas de mañana.</a:t>
            </a:r>
            <a:endParaRPr lang="en-US" sz="1300" dirty="0"/>
          </a:p>
        </p:txBody>
      </p:sp>
      <p:pic>
        <p:nvPicPr>
          <p:cNvPr id="18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0" y="3104852"/>
            <a:ext cx="355600" cy="127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21775" y="2257227"/>
            <a:ext cx="2254250" cy="1822152"/>
          </a:xfrm>
          <a:prstGeom prst="roundRect">
            <a:avLst>
              <a:gd name="adj" fmla="val 5402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5"/>
          <p:cNvSpPr/>
          <p:nvPr/>
        </p:nvSpPr>
        <p:spPr>
          <a:xfrm>
            <a:off x="9353550" y="2489002"/>
            <a:ext cx="18444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PASO 4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353550" y="2791222"/>
            <a:ext cx="184442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Leaderboard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9353550" y="3154363"/>
            <a:ext cx="1844421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califica contra el dato real y se publica la tabla.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12800" y="450294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dispara un </a:t>
            </a:r>
            <a:r>
              <a:rPr lang="en-US" sz="1400" b="1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cron</a:t>
            </a: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 .github/workflows/pronostico_diario.yml · también hay botón manual “Run workflow”.</a:t>
            </a:r>
            <a:endParaRPr lang="en-US" sz="14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0173A2D6-9240-8E3B-9488-2EAD042F139A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28" name="Google Shape;168;p43">
            <a:extLst>
              <a:ext uri="{FF2B5EF4-FFF2-40B4-BE49-F238E27FC236}">
                <a16:creationId xmlns:a16="http://schemas.microsoft.com/office/drawing/2014/main" id="{0C158F49-8068-64D6-F268-8E9B88BF049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6F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FUENTES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Dos fuentes abiertas, cero claves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41736"/>
            <a:ext cx="5175250" cy="2317750"/>
          </a:xfrm>
          <a:prstGeom prst="roundRect">
            <a:avLst>
              <a:gd name="adj" fmla="val 4247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98550" y="2424311"/>
            <a:ext cx="47484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XM · librería pydataxm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8550" y="2843411"/>
            <a:ext cx="4748403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694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Librería oficial de XM en GitHub: </a:t>
            </a:r>
            <a:r>
              <a:rPr lang="en-US" sz="1400" b="1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EquipoAnaliticaXM/API_XM</a:t>
            </a:r>
            <a:endParaRPr lang="en-US" sz="1400" dirty="0"/>
          </a:p>
          <a:p>
            <a:pPr marL="213360" indent="-169418" algn="l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ListadoRecursos</a:t>
            </a: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plantas con fuente RAD SOLAR</a:t>
            </a:r>
            <a:endParaRPr lang="en-US" sz="1400" dirty="0"/>
          </a:p>
          <a:p>
            <a:pPr marL="213360" indent="-169418" algn="l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</a:t>
            </a: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por recurso: generación real horaria (kWh)</a:t>
            </a:r>
            <a:endParaRPr lang="en-US" sz="1400" dirty="0"/>
          </a:p>
          <a:p>
            <a:pPr marL="213360" indent="-1694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 con 1–2 días de rezago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2141736"/>
            <a:ext cx="5175250" cy="2317750"/>
          </a:xfrm>
          <a:prstGeom prst="roundRect">
            <a:avLst>
              <a:gd name="adj" fmla="val 4247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483350" y="2424311"/>
            <a:ext cx="47484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4F6F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Open-Meteo · clima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83350" y="2843411"/>
            <a:ext cx="474840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694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Radiación solar, nubosidad y temperatura</a:t>
            </a:r>
            <a:endParaRPr lang="en-US" sz="1400" dirty="0"/>
          </a:p>
          <a:p>
            <a:pPr marL="213360" indent="-1694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Promedio de 4 núcleos: Cesar, Atlántico-Bolívar, Tolima, Córdoba-Sucre</a:t>
            </a:r>
            <a:endParaRPr lang="en-US" sz="1400" dirty="0"/>
          </a:p>
          <a:p>
            <a:pPr marL="213360" indent="-1694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Últimos 92 días + pronóstico de los próximos</a:t>
            </a:r>
            <a:endParaRPr lang="en-US" sz="1400" dirty="0"/>
          </a:p>
        </p:txBody>
      </p:sp>
      <p:sp>
        <p:nvSpPr>
          <p:cNvPr id="12" name="Text 22">
            <a:extLst>
              <a:ext uri="{FF2B5EF4-FFF2-40B4-BE49-F238E27FC236}">
                <a16:creationId xmlns:a16="http://schemas.microsoft.com/office/drawing/2014/main" id="{1B075938-C71E-17D1-8686-2A4DE4AB9982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14" name="Google Shape;168;p43">
            <a:extLst>
              <a:ext uri="{FF2B5EF4-FFF2-40B4-BE49-F238E27FC236}">
                <a16:creationId xmlns:a16="http://schemas.microsoft.com/office/drawing/2014/main" id="{2101207F-3867-2B7C-5D3B-B53914EB13C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E8363F58-9B41-ACB9-1A6F-03BE82A95314}"/>
              </a:ext>
            </a:extLst>
          </p:cNvPr>
          <p:cNvSpPr txBox="1"/>
          <p:nvPr/>
        </p:nvSpPr>
        <p:spPr>
          <a:xfrm>
            <a:off x="902240" y="4529226"/>
            <a:ext cx="46704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hlinkClick r:id="rId4"/>
              </a:rPr>
              <a:t>GitHub - </a:t>
            </a:r>
            <a:r>
              <a:rPr lang="es-MX" dirty="0" err="1">
                <a:hlinkClick r:id="rId4"/>
              </a:rPr>
              <a:t>EquipoAnaliticaXM</a:t>
            </a:r>
            <a:r>
              <a:rPr lang="es-MX" dirty="0">
                <a:hlinkClick r:id="rId4"/>
              </a:rPr>
              <a:t>/API_XM: Este repositorio se crea con el fin de compartir herramientas de consulta para extraer información relevante del Mercado de Energía Mayorista colombiano · GitHub</a:t>
            </a:r>
            <a:endParaRPr lang="es-MX" dirty="0"/>
          </a:p>
          <a:p>
            <a:r>
              <a:rPr lang="es-MX" dirty="0"/>
              <a:t> </a:t>
            </a:r>
          </a:p>
          <a:p>
            <a:r>
              <a:rPr lang="es-MX" dirty="0"/>
              <a:t>API: servapibi.xm.com.co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6770FEE-D6BB-0D99-CB59-3A1F22E3D48C}"/>
              </a:ext>
            </a:extLst>
          </p:cNvPr>
          <p:cNvSpPr txBox="1"/>
          <p:nvPr/>
        </p:nvSpPr>
        <p:spPr>
          <a:xfrm>
            <a:off x="6327855" y="4529226"/>
            <a:ext cx="42912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hlinkClick r:id="rId5"/>
              </a:rPr>
              <a:t>🌦️ </a:t>
            </a:r>
            <a:r>
              <a:rPr lang="es-MX" dirty="0" err="1">
                <a:hlinkClick r:id="rId5"/>
              </a:rPr>
              <a:t>Docs</a:t>
            </a:r>
            <a:r>
              <a:rPr lang="es-MX" dirty="0">
                <a:hlinkClick r:id="rId5"/>
              </a:rPr>
              <a:t> | Open-Meteo.com</a:t>
            </a:r>
            <a:endParaRPr lang="es-MX" dirty="0"/>
          </a:p>
          <a:p>
            <a:r>
              <a:rPr lang="es-MX" sz="1800" dirty="0"/>
              <a:t> </a:t>
            </a:r>
          </a:p>
          <a:p>
            <a:r>
              <a:rPr lang="es-MX" sz="1800" dirty="0"/>
              <a:t>API: api.open-meteo.com/v1/</a:t>
            </a:r>
            <a:r>
              <a:rPr lang="es-MX" sz="1800" dirty="0" err="1"/>
              <a:t>forecast</a:t>
            </a:r>
            <a:endParaRPr lang="es-MX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API DE XM EN 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pydataxm, la librería oficial de XM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36961"/>
            <a:ext cx="10566400" cy="2527300"/>
          </a:xfrm>
          <a:prstGeom prst="roundRect">
            <a:avLst>
              <a:gd name="adj" fmla="val 4020"/>
            </a:avLst>
          </a:prstGeom>
          <a:solidFill>
            <a:srgbClr val="1F2D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117600" y="2290961"/>
            <a:ext cx="1025550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7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!pip install pydataxm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7600" y="2583061"/>
            <a:ext cx="1025550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7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pydataxm.pydataxm import ReadDB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2875161"/>
            <a:ext cx="1025550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7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= ReadDB() </a:t>
            </a:r>
            <a:r>
              <a:rPr lang="en-US" sz="1400" dirty="0">
                <a:solidFill>
                  <a:srgbClr val="9FB3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inventario de métricas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7600" y="3167261"/>
            <a:ext cx="1025550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7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api.get_collections() </a:t>
            </a:r>
            <a:r>
              <a:rPr lang="en-US" sz="1400" dirty="0">
                <a:solidFill>
                  <a:srgbClr val="9FB3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qué se puede pedir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7600" y="3459361"/>
            <a:ext cx="1025550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7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plantas = api.request_data("ListadoRecursos", "Sistema", ini, fin)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7600" y="3751461"/>
            <a:ext cx="1025550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3B0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solares = plantas[plantas.Values_EnerSource == "RAD SOLAR"]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7600" y="4043561"/>
            <a:ext cx="1025550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7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 = api.request_data("Gene", "Recurso", ini, fin)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818261"/>
            <a:ext cx="1088339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Repositorio: </a:t>
            </a:r>
            <a:r>
              <a:rPr lang="en-US" sz="1400" b="1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github.com/EquipoAnaliticaXM/API_XM</a:t>
            </a: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parte la consulta por meses y la pide en paralelo. Es lo que usa </a:t>
            </a:r>
            <a:r>
              <a:rPr lang="en-US" sz="140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liga/xm.py</a:t>
            </a: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F711AA4A-C653-8836-454E-4ABDCB3F3AE9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17" name="Google Shape;168;p43">
            <a:extLst>
              <a:ext uri="{FF2B5EF4-FFF2-40B4-BE49-F238E27FC236}">
                <a16:creationId xmlns:a16="http://schemas.microsoft.com/office/drawing/2014/main" id="{AF707A0B-EFF5-968C-6417-AB1663B559B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¿QUÉ HAY EN EL .ZIP?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Las carpetas del repositorio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44911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19150" y="2138561"/>
            <a:ext cx="0" cy="3064669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40161"/>
          <a:ext cx="10375900" cy="2874168"/>
        </p:xfrm>
        <a:graphic>
          <a:graphicData uri="http://schemas.openxmlformats.org/drawingml/2006/table">
            <a:tbl>
              <a:tblPr/>
              <a:tblGrid>
                <a:gridCol w="3527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8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Carpeta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Para qué sirve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0512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liga/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El motor: descarga de XM y clima, arma el dataset, corre todo y califica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0512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modelos/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 archivo .py por participante. Aquí compiten los modelos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0512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datos/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Histórico de generación + clima que se actualiza cada día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0512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predicciones/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Predicción oficial de cada día, congelada (anti-trampa)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0512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resultados/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Gráficas y backtest que se muestran en el leaderboard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0512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.github/workflows/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Automatizaciones: pronóstico diario, validar PRs, Claude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0512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README · GUIA_CLASE · CLAUDE.md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Documentación, plan de clase e instrucciones para Claude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22">
            <a:extLst>
              <a:ext uri="{FF2B5EF4-FFF2-40B4-BE49-F238E27FC236}">
                <a16:creationId xmlns:a16="http://schemas.microsoft.com/office/drawing/2014/main" id="{938D0D6D-981E-810D-E120-4838FD814B2F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11" name="Google Shape;168;p43">
            <a:extLst>
              <a:ext uri="{FF2B5EF4-FFF2-40B4-BE49-F238E27FC236}">
                <a16:creationId xmlns:a16="http://schemas.microsoft.com/office/drawing/2014/main" id="{C6A41DD0-4857-729C-1728-37E3E7F88DB9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/>
        </p:nvSpPr>
        <p:spPr>
          <a:xfrm>
            <a:off x="812800" y="4002683"/>
            <a:ext cx="10566400" cy="1320602"/>
          </a:xfrm>
          <a:prstGeom prst="roundRect">
            <a:avLst>
              <a:gd name="adj" fmla="val 7693"/>
            </a:avLst>
          </a:prstGeom>
          <a:solidFill>
            <a:srgbClr val="1F2D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092200" y="4556323"/>
            <a:ext cx="1030782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3B0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-m liga.run_diario --backtest 14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2200" y="4881364"/>
            <a:ext cx="103078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Primera línea: </a:t>
            </a:r>
            <a:r>
              <a:rPr lang="en-US" sz="1200" dirty="0" err="1">
                <a:solidFill>
                  <a:srgbClr val="9FB3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</a:t>
            </a:r>
            <a:r>
              <a:rPr lang="en-US" sz="1200" dirty="0">
                <a:solidFill>
                  <a:srgbClr val="9FB3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reales de XM</a:t>
            </a:r>
            <a:endParaRPr lang="en-US" sz="1200" dirty="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D7DB8FDC-0673-18D5-7486-2F83429CC41E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24" name="Google Shape;168;p43">
            <a:extLst>
              <a:ext uri="{FF2B5EF4-FFF2-40B4-BE49-F238E27FC236}">
                <a16:creationId xmlns:a16="http://schemas.microsoft.com/office/drawing/2014/main" id="{288B32C6-D107-09AA-BC6B-B65B5ECD80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hape 4">
            <a:extLst>
              <a:ext uri="{FF2B5EF4-FFF2-40B4-BE49-F238E27FC236}">
                <a16:creationId xmlns:a16="http://schemas.microsoft.com/office/drawing/2014/main" id="{6CC966AD-C300-8C7C-9C0D-6D919DF5DD91}"/>
              </a:ext>
            </a:extLst>
          </p:cNvPr>
          <p:cNvSpPr/>
          <p:nvPr/>
        </p:nvSpPr>
        <p:spPr>
          <a:xfrm>
            <a:off x="815975" y="2390775"/>
            <a:ext cx="2540000" cy="1847850"/>
          </a:xfrm>
          <a:prstGeom prst="roundRect">
            <a:avLst>
              <a:gd name="adj" fmla="val 5326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9279BD47-E53B-6833-84C8-60E8A16014C4}"/>
              </a:ext>
            </a:extLst>
          </p:cNvPr>
          <p:cNvSpPr/>
          <p:nvPr/>
        </p:nvSpPr>
        <p:spPr>
          <a:xfrm>
            <a:off x="1022350" y="2597150"/>
            <a:ext cx="21910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51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xm.py</a:t>
            </a:r>
            <a:endParaRPr lang="en-US" sz="12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5FAFB8B4-3951-245C-8AFE-4C8EF7694852}"/>
              </a:ext>
            </a:extLst>
          </p:cNvPr>
          <p:cNvSpPr/>
          <p:nvPr/>
        </p:nvSpPr>
        <p:spPr>
          <a:xfrm>
            <a:off x="1022350" y="2873970"/>
            <a:ext cx="219106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Mensajero de XM</a:t>
            </a:r>
            <a:endParaRPr lang="en-US" sz="16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43C84C3B-9C72-FAD8-4FCD-226C629E086B}"/>
              </a:ext>
            </a:extLst>
          </p:cNvPr>
          <p:cNvSpPr/>
          <p:nvPr/>
        </p:nvSpPr>
        <p:spPr>
          <a:xfrm>
            <a:off x="1022350" y="3181251"/>
            <a:ext cx="219106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Pide a XM la energía de cada planta solar, hora por hora, y suma el total del país.</a:t>
            </a:r>
            <a:endParaRPr lang="en-US" sz="12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8FD92E1E-0C6C-05DC-522C-9A23625929CE}"/>
              </a:ext>
            </a:extLst>
          </p:cNvPr>
          <p:cNvSpPr/>
          <p:nvPr/>
        </p:nvSpPr>
        <p:spPr>
          <a:xfrm>
            <a:off x="3489325" y="2390775"/>
            <a:ext cx="2540000" cy="1847850"/>
          </a:xfrm>
          <a:prstGeom prst="roundRect">
            <a:avLst>
              <a:gd name="adj" fmla="val 5326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A6A01B29-4B16-A800-264E-1D8B78358E13}"/>
              </a:ext>
            </a:extLst>
          </p:cNvPr>
          <p:cNvSpPr/>
          <p:nvPr/>
        </p:nvSpPr>
        <p:spPr>
          <a:xfrm>
            <a:off x="3695700" y="2597150"/>
            <a:ext cx="2191068" cy="238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6F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· clima.py</a:t>
            </a:r>
            <a:endParaRPr lang="en-US" sz="120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248CC942-CFF5-72A1-95ED-04550CD78899}"/>
              </a:ext>
            </a:extLst>
          </p:cNvPr>
          <p:cNvSpPr/>
          <p:nvPr/>
        </p:nvSpPr>
        <p:spPr>
          <a:xfrm>
            <a:off x="3695700" y="2873573"/>
            <a:ext cx="2191068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Meteorólogo</a:t>
            </a:r>
            <a:endParaRPr lang="en-US" sz="1600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C4F4C1E7-F5A5-3761-4886-672B6E86E2FE}"/>
              </a:ext>
            </a:extLst>
          </p:cNvPr>
          <p:cNvSpPr/>
          <p:nvPr/>
        </p:nvSpPr>
        <p:spPr>
          <a:xfrm>
            <a:off x="3695700" y="3180457"/>
            <a:ext cx="2191068" cy="877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Trae de Open-Meteo sol, nubes y temperatura: lo que pasó y lo esperado para mañana.</a:t>
            </a:r>
            <a:endParaRPr lang="en-US" sz="1200" dirty="0"/>
          </a:p>
        </p:txBody>
      </p:sp>
      <p:sp>
        <p:nvSpPr>
          <p:cNvPr id="48" name="Shape 12">
            <a:extLst>
              <a:ext uri="{FF2B5EF4-FFF2-40B4-BE49-F238E27FC236}">
                <a16:creationId xmlns:a16="http://schemas.microsoft.com/office/drawing/2014/main" id="{B102AAAB-FC9E-1BD5-BAB2-F967A5681E85}"/>
              </a:ext>
            </a:extLst>
          </p:cNvPr>
          <p:cNvSpPr/>
          <p:nvPr/>
        </p:nvSpPr>
        <p:spPr>
          <a:xfrm>
            <a:off x="6162675" y="2390775"/>
            <a:ext cx="2540000" cy="1847850"/>
          </a:xfrm>
          <a:prstGeom prst="roundRect">
            <a:avLst>
              <a:gd name="adj" fmla="val 5326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CC35CC57-AB3F-4A31-9532-F269A900160B}"/>
              </a:ext>
            </a:extLst>
          </p:cNvPr>
          <p:cNvSpPr/>
          <p:nvPr/>
        </p:nvSpPr>
        <p:spPr>
          <a:xfrm>
            <a:off x="6369050" y="2597150"/>
            <a:ext cx="21910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77A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· datos.py</a:t>
            </a:r>
            <a:endParaRPr lang="en-US" sz="12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1C14466A-DAFA-B450-0E70-2649025735BD}"/>
              </a:ext>
            </a:extLst>
          </p:cNvPr>
          <p:cNvSpPr/>
          <p:nvPr/>
        </p:nvSpPr>
        <p:spPr>
          <a:xfrm>
            <a:off x="6369050" y="2873970"/>
            <a:ext cx="219106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Bibliotecario</a:t>
            </a:r>
            <a:endParaRPr lang="en-US" sz="1600" dirty="0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1723B47F-7A41-DEE9-3BE8-ACCA56D83B5A}"/>
              </a:ext>
            </a:extLst>
          </p:cNvPr>
          <p:cNvSpPr/>
          <p:nvPr/>
        </p:nvSpPr>
        <p:spPr>
          <a:xfrm>
            <a:off x="6369050" y="3181251"/>
            <a:ext cx="219106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energía y clima en una sola tabla, bota los días incompletos y la guarda.</a:t>
            </a:r>
            <a:endParaRPr lang="en-US" sz="1200" dirty="0"/>
          </a:p>
        </p:txBody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E4F8F2BF-2AFA-57BF-3CC1-A15A7EC9857B}"/>
              </a:ext>
            </a:extLst>
          </p:cNvPr>
          <p:cNvSpPr/>
          <p:nvPr/>
        </p:nvSpPr>
        <p:spPr>
          <a:xfrm>
            <a:off x="8836025" y="2390775"/>
            <a:ext cx="2540000" cy="1847850"/>
          </a:xfrm>
          <a:prstGeom prst="roundRect">
            <a:avLst>
              <a:gd name="adj" fmla="val 5326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A12432EE-E1B4-217E-E7D6-21BC91C8077E}"/>
              </a:ext>
            </a:extLst>
          </p:cNvPr>
          <p:cNvSpPr/>
          <p:nvPr/>
        </p:nvSpPr>
        <p:spPr>
          <a:xfrm>
            <a:off x="9042400" y="2597150"/>
            <a:ext cx="21910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D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· run_diario.py</a:t>
            </a:r>
            <a:endParaRPr lang="en-US" sz="12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16AB898B-FE31-5947-3D0F-711CF5DEB660}"/>
              </a:ext>
            </a:extLst>
          </p:cNvPr>
          <p:cNvSpPr/>
          <p:nvPr/>
        </p:nvSpPr>
        <p:spPr>
          <a:xfrm>
            <a:off x="9042400" y="2873970"/>
            <a:ext cx="219106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Director</a:t>
            </a:r>
            <a:endParaRPr lang="en-US" sz="1600" dirty="0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76B68FC6-DFBE-D3C8-BBA7-84F653A48A94}"/>
              </a:ext>
            </a:extLst>
          </p:cNvPr>
          <p:cNvSpPr/>
          <p:nvPr/>
        </p:nvSpPr>
        <p:spPr>
          <a:xfrm>
            <a:off x="9042400" y="3181251"/>
            <a:ext cx="219106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Coordina a los otros, pide a cada modelo su pronóstico, lo califica y arma el leaderboard.</a:t>
            </a:r>
            <a:endParaRPr lang="en-US" sz="1200" dirty="0"/>
          </a:p>
        </p:txBody>
      </p:sp>
      <p:sp>
        <p:nvSpPr>
          <p:cNvPr id="64" name="Text 1">
            <a:extLst>
              <a:ext uri="{FF2B5EF4-FFF2-40B4-BE49-F238E27FC236}">
                <a16:creationId xmlns:a16="http://schemas.microsoft.com/office/drawing/2014/main" id="{EAE8D95F-4259-F796-D1C4-CA36FFAB4D37}"/>
              </a:ext>
            </a:extLst>
          </p:cNvPr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6F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DENTRO DE LA CARPETA LIGA/</a:t>
            </a:r>
            <a:endParaRPr lang="en-US" sz="1200" dirty="0"/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CE3BFF2F-C267-A3EB-2223-2CB5D612613C}"/>
              </a:ext>
            </a:extLst>
          </p:cNvPr>
          <p:cNvSpPr/>
          <p:nvPr/>
        </p:nvSpPr>
        <p:spPr>
          <a:xfrm>
            <a:off x="812800" y="122297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Cuatro archivos, cuatro oficios</a:t>
            </a:r>
            <a:endParaRPr lang="en-US" sz="3200" dirty="0"/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286950B7-B396-AB8B-B499-27A0B2A7B7F7}"/>
              </a:ext>
            </a:extLst>
          </p:cNvPr>
          <p:cNvSpPr/>
          <p:nvPr/>
        </p:nvSpPr>
        <p:spPr>
          <a:xfrm>
            <a:off x="812800" y="19304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archivo es un programa pequeño con una sola tarea; trabajan en cadena, en este orden.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Tarea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Tres modelos del profe en la carpeta modelos/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41736"/>
            <a:ext cx="3380284" cy="1885553"/>
          </a:xfrm>
          <a:prstGeom prst="roundRect">
            <a:avLst>
              <a:gd name="adj" fmla="val 5220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73150" y="2398911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Persistencia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3150" y="2774752"/>
            <a:ext cx="29519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Mañana será igual al último día conocido. La línea base mínima: si no le ganas, tu modelo no aporta.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09" y="2141736"/>
            <a:ext cx="3380383" cy="1885553"/>
          </a:xfrm>
          <a:prstGeom prst="roundRect">
            <a:avLst>
              <a:gd name="adj" fmla="val 5220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662984" y="2398911"/>
            <a:ext cx="295201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Persistencia × radiación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2984" y="2774752"/>
            <a:ext cx="2952014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mismo perfil, escalado por cuánta radiación se pronostica. Física simple que ya mejora mucho.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741" y="2141736"/>
            <a:ext cx="3380284" cy="1885553"/>
          </a:xfrm>
          <a:prstGeom prst="roundRect">
            <a:avLst>
              <a:gd name="adj" fmla="val 5220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252916" y="2398911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SolarNet-GRU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2916" y="2774752"/>
            <a:ext cx="29519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 recurrente bidireccional en PyTorch que se re-entrena cada día con los últimos ~90 días.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33526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Además: </a:t>
            </a:r>
            <a:r>
              <a:rPr lang="en-US" sz="140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_plantilla.py</a:t>
            </a: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el punto de partida para los estudiantes.</a:t>
            </a:r>
            <a:endParaRPr lang="en-US" sz="1400" dirty="0"/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8EFD78F2-E2C5-14F4-EAA9-81B76E7B0101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18" name="Google Shape;168;p43">
            <a:extLst>
              <a:ext uri="{FF2B5EF4-FFF2-40B4-BE49-F238E27FC236}">
                <a16:creationId xmlns:a16="http://schemas.microsoft.com/office/drawing/2014/main" id="{3E7D5896-68FC-4B9C-1EFC-B27ED8C93F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6F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Por dentro de SolarNet-GRU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38561"/>
            <a:ext cx="2298700" cy="2291159"/>
          </a:xfrm>
          <a:prstGeom prst="roundRect">
            <a:avLst>
              <a:gd name="adj" fmla="val 4434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41400" y="2367161"/>
            <a:ext cx="1896745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Entrada por hora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400" y="3004542"/>
            <a:ext cx="1896745" cy="1221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Generación del último día · radiación · nubosidad · temperatura · hora (seno, coseno)</a:t>
            </a:r>
            <a:endParaRPr lang="en-US" sz="1300" dirty="0"/>
          </a:p>
        </p:txBody>
      </p:sp>
      <p:pic>
        <p:nvPicPr>
          <p:cNvPr id="7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87700" y="3220641"/>
            <a:ext cx="304800" cy="12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68700" y="2138561"/>
            <a:ext cx="2298700" cy="2291159"/>
          </a:xfrm>
          <a:prstGeom prst="roundRect">
            <a:avLst>
              <a:gd name="adj" fmla="val 4434"/>
            </a:avLst>
          </a:prstGeom>
          <a:solidFill>
            <a:srgbClr val="1F2D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3797300" y="2367161"/>
            <a:ext cx="1896745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 bidireccional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797300" y="3004542"/>
            <a:ext cx="1896745" cy="982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Lee las 24 horas en ambos sentidos: la mañana “sabe” cómo será la tarde</a:t>
            </a:r>
            <a:endParaRPr lang="en-US" sz="1300" dirty="0"/>
          </a:p>
        </p:txBody>
      </p:sp>
      <p:pic>
        <p:nvPicPr>
          <p:cNvPr id="11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3220641"/>
            <a:ext cx="304800" cy="127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24600" y="2138561"/>
            <a:ext cx="2298700" cy="2291159"/>
          </a:xfrm>
          <a:prstGeom prst="roundRect">
            <a:avLst>
              <a:gd name="adj" fmla="val 4434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6553200" y="2367161"/>
            <a:ext cx="1896745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Cabeza densa + ReLU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553200" y="3004542"/>
            <a:ext cx="1896745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capa lineal por hora; la ReLU impide generación negativa</a:t>
            </a:r>
            <a:endParaRPr lang="en-US" sz="1300" dirty="0"/>
          </a:p>
        </p:txBody>
      </p:sp>
      <p:pic>
        <p:nvPicPr>
          <p:cNvPr id="15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99500" y="3220641"/>
            <a:ext cx="304800" cy="127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80500" y="2138561"/>
            <a:ext cx="2298700" cy="2291159"/>
          </a:xfrm>
          <a:prstGeom prst="roundRect">
            <a:avLst>
              <a:gd name="adj" fmla="val 4434"/>
            </a:avLst>
          </a:prstGeom>
          <a:solidFill>
            <a:srgbClr val="F3DCC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2"/>
          <p:cNvSpPr/>
          <p:nvPr/>
        </p:nvSpPr>
        <p:spPr>
          <a:xfrm>
            <a:off x="9309100" y="2367161"/>
            <a:ext cx="189674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Salida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309100" y="2730302"/>
            <a:ext cx="1896745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 valores en MWh: el pronóstico de mañana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12800" y="47345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Entrena en ~5 s en CPU · 400 épocas · AdamW · se entrena con el mismo rezago que tiene XM.</a:t>
            </a:r>
            <a:endParaRPr lang="en-US" sz="1400" dirty="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F16ECEF7-CC7A-17CB-8A92-FE40367AA255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24" name="Google Shape;168;p43">
            <a:extLst>
              <a:ext uri="{FF2B5EF4-FFF2-40B4-BE49-F238E27FC236}">
                <a16:creationId xmlns:a16="http://schemas.microsoft.com/office/drawing/2014/main" id="{24B7124A-2751-D5C9-51A7-08835CD7CCE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REGLAS DEL JUEGO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Cómo se califica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38561"/>
            <a:ext cx="5975945" cy="2280642"/>
          </a:xfrm>
          <a:prstGeom prst="roundRect">
            <a:avLst>
              <a:gd name="adj" fmla="val 4455"/>
            </a:avLst>
          </a:prstGeom>
          <a:solidFill>
            <a:srgbClr val="1F2D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168400" y="2494161"/>
            <a:ext cx="542268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3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 frente a persistencia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68400" y="2870002"/>
            <a:ext cx="542268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3B04B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1 − MAE / MAE</a:t>
            </a:r>
            <a:r>
              <a:rPr lang="en-US" sz="3200" b="1" dirty="0">
                <a:solidFill>
                  <a:srgbClr val="F7F2EA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pers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68400" y="3565922"/>
            <a:ext cx="542268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Positivo = le ganas a la línea base. MAE medido solo de 06:00 a 18:00.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95120" y="2141736"/>
            <a:ext cx="4380905" cy="1057771"/>
          </a:xfrm>
          <a:prstGeom prst="roundRect">
            <a:avLst>
              <a:gd name="adj" fmla="val 9305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252295" y="2398911"/>
            <a:ext cx="3982551" cy="182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108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Anti-trampa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252295" y="2657475"/>
            <a:ext cx="3982551" cy="310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primera predicción de cada día queda congelada en predicciones/ y git lo demuestra.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995120" y="3358257"/>
            <a:ext cx="4380905" cy="1057771"/>
          </a:xfrm>
          <a:prstGeom prst="roundRect">
            <a:avLst>
              <a:gd name="adj" fmla="val 9305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252295" y="3615432"/>
            <a:ext cx="3982551" cy="182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108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Dos tablas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252295" y="3873996"/>
            <a:ext cx="3982551" cy="310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15"/>
              </a:lnSpc>
              <a:buNone/>
            </a:pPr>
            <a:r>
              <a:rPr lang="en-US" sz="1011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Liga oficial (futuro real) y backtest (días pasados, más optimista).</a:t>
            </a:r>
            <a:endParaRPr lang="en-US" sz="1011" dirty="0"/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6CC7E630-0F91-7D55-3CC1-FE8D615BC7B7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18" name="Google Shape;168;p43">
            <a:extLst>
              <a:ext uri="{FF2B5EF4-FFF2-40B4-BE49-F238E27FC236}">
                <a16:creationId xmlns:a16="http://schemas.microsoft.com/office/drawing/2014/main" id="{D063916D-97E8-E813-33AE-D9490165F93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6F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ASÍ SE VE UN RESULTADO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Backtest de prueba con datos simulados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38561"/>
            <a:ext cx="6985000" cy="3263900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" name="Image 0" descr="Gráfica de generación solar real versus pronósticos de los tres modelos para un día de backtest"/>
          <p:cNvPicPr>
            <a:picLocks noChangeAspect="1"/>
          </p:cNvPicPr>
          <p:nvPr/>
        </p:nvPicPr>
        <p:blipFill>
          <a:blip r:embed="rId3"/>
          <a:srcRect t="-65" b="-65"/>
          <a:stretch/>
        </p:blipFill>
        <p:spPr>
          <a:xfrm>
            <a:off x="812800" y="2138561"/>
            <a:ext cx="6985000" cy="3263900"/>
          </a:xfrm>
          <a:prstGeom prst="roundRect">
            <a:avLst>
              <a:gd name="adj" fmla="val 3113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051800" y="2777430"/>
            <a:ext cx="342722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la prueba local con datos simulados: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51800" y="3463230"/>
            <a:ext cx="34272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SolarNet-GRU</a:t>
            </a:r>
            <a:r>
              <a:rPr lang="en-US" sz="1500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+76 % de skill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51800" y="3882330"/>
            <a:ext cx="34272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× radiación</a:t>
            </a:r>
            <a:r>
              <a:rPr lang="en-US" sz="1500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+27 % de skill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51800" y="4301430"/>
            <a:ext cx="342722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B73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datos reales de XM los números serán otros: eso es lo que descubrimos en clase.</a:t>
            </a:r>
            <a:endParaRPr lang="en-US" sz="1300" dirty="0"/>
          </a:p>
        </p:txBody>
      </p:sp>
      <p:sp>
        <p:nvSpPr>
          <p:cNvPr id="12" name="Text 22">
            <a:extLst>
              <a:ext uri="{FF2B5EF4-FFF2-40B4-BE49-F238E27FC236}">
                <a16:creationId xmlns:a16="http://schemas.microsoft.com/office/drawing/2014/main" id="{13B879FA-6E43-08B7-7EF7-33564407058B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14" name="Google Shape;168;p43">
            <a:extLst>
              <a:ext uri="{FF2B5EF4-FFF2-40B4-BE49-F238E27FC236}">
                <a16:creationId xmlns:a16="http://schemas.microsoft.com/office/drawing/2014/main" id="{4BBD6F28-1D3F-8647-19EC-989802CE8B4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464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PASO A PASO 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Lo que hace el profe hoy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138561"/>
            <a:ext cx="5588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0512F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24000" y="2138561"/>
            <a:ext cx="1015085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Crear el repo y subir la carpeta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24000" y="2478881"/>
            <a:ext cx="1015085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Descomprimir el .zip y subirlo a un repositorio nuevo en GitHub (público para que hagan fork).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956322"/>
            <a:ext cx="5588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0512F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24000" y="2956322"/>
            <a:ext cx="1015085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Correr el primer pronóstico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24000" y="3296642"/>
            <a:ext cx="1015085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Pestaña Actions → “Pronóstico diario” → Run workflow con backtest = 14. Así el leaderboard ya tiene datos.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774083"/>
            <a:ext cx="5588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0512F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524000" y="3774083"/>
            <a:ext cx="1015085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Opcional: activar a Claude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24000" y="4114403"/>
            <a:ext cx="1015085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Settings → Secrets → Actions → ANTHROPIC_API_KEY, para responder a @claude en issues y PRs.</a:t>
            </a:r>
            <a:endParaRPr lang="en-US" sz="1400" dirty="0"/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1E0954DD-4B9A-BB38-E01B-5CA44CA9DCAF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17" name="Google Shape;168;p43">
            <a:extLst>
              <a:ext uri="{FF2B5EF4-FFF2-40B4-BE49-F238E27FC236}">
                <a16:creationId xmlns:a16="http://schemas.microsoft.com/office/drawing/2014/main" id="{9E5AF969-2FE9-FFC0-7A16-8D226451719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6F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PASO A PASO 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La agenda de mañana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44911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19150" y="2138561"/>
            <a:ext cx="0" cy="3064669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40161"/>
          <a:ext cx="10375900" cy="2874168"/>
        </p:xfrm>
        <a:graphic>
          <a:graphicData uri="http://schemas.openxmlformats.org/drawingml/2006/table">
            <a:tbl>
              <a:tblPr/>
              <a:tblGrid>
                <a:gridCol w="933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8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Hora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Bloque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Qué pasa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0512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0:00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Gancho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5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Mostrar el leaderboard: ¿cuánta energía solar habrá mañana a las 11 a. m.?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0512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0:15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API de XM en vivo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5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Repo oficial API_XM y pydataxm en Colab: ReadDB, métricas, request_data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0512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0:35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El clima importa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5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Persistencia vs. persistencia × radiación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0512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0:50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SolarNet-GRU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5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Entradas por hora, GRU bidireccional, re-entrenamiento diario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0512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1:15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GitHub como laboratorio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5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Fork, Pull Request, Actions valida, merge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0512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1:30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Manos a la obra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5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En parejas: copiar la plantilla y mejorarla; abrir el PR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0512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1:50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D2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Claude analista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5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Preguntar en un issue por qué falló un día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22">
            <a:extLst>
              <a:ext uri="{FF2B5EF4-FFF2-40B4-BE49-F238E27FC236}">
                <a16:creationId xmlns:a16="http://schemas.microsoft.com/office/drawing/2014/main" id="{832D5028-635D-D6E1-6707-986A43E1295C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11" name="Google Shape;168;p43">
            <a:extLst>
              <a:ext uri="{FF2B5EF4-FFF2-40B4-BE49-F238E27FC236}">
                <a16:creationId xmlns:a16="http://schemas.microsoft.com/office/drawing/2014/main" id="{BA021A45-C0F7-CEB0-F002-D95B57121D59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PASO A PASO ·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Cómo entra un modelo a la liga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370237"/>
            <a:ext cx="1822450" cy="1448891"/>
          </a:xfrm>
          <a:prstGeom prst="roundRect">
            <a:avLst>
              <a:gd name="adj" fmla="val 6793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22350" y="2576612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866132"/>
            <a:ext cx="14605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2350" y="3186113"/>
            <a:ext cx="146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Copian el repo a su cuenta</a:t>
            </a:r>
            <a:endParaRPr lang="en-US" sz="1200" dirty="0"/>
          </a:p>
        </p:txBody>
      </p:sp>
      <p:pic>
        <p:nvPicPr>
          <p:cNvPr id="8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2400" y="3043932"/>
            <a:ext cx="254000" cy="10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00375" y="2141736"/>
            <a:ext cx="1822450" cy="1905992"/>
          </a:xfrm>
          <a:prstGeom prst="roundRect">
            <a:avLst>
              <a:gd name="adj" fmla="val 5401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3206750" y="2348111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6F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6750" y="2637631"/>
            <a:ext cx="1460500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Copiar plantilla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206750" y="3201392"/>
            <a:ext cx="14605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Copian _plantilla.py con su nombre de usuario</a:t>
            </a:r>
            <a:endParaRPr lang="en-US" sz="1200" dirty="0"/>
          </a:p>
        </p:txBody>
      </p:sp>
      <p:pic>
        <p:nvPicPr>
          <p:cNvPr id="13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6800" y="3043932"/>
            <a:ext cx="254000" cy="101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84775" y="2370237"/>
            <a:ext cx="1822450" cy="1448891"/>
          </a:xfrm>
          <a:prstGeom prst="roundRect">
            <a:avLst>
              <a:gd name="adj" fmla="val 6793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5391150" y="2576612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77A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91150" y="2866132"/>
            <a:ext cx="14605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Probar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391150" y="3186113"/>
            <a:ext cx="146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--demo --backtest 5 en Colab o local</a:t>
            </a:r>
            <a:endParaRPr lang="en-US" sz="1200" dirty="0"/>
          </a:p>
        </p:txBody>
      </p:sp>
      <p:pic>
        <p:nvPicPr>
          <p:cNvPr id="18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61200" y="3043932"/>
            <a:ext cx="254000" cy="101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369175" y="2370237"/>
            <a:ext cx="1822450" cy="1448891"/>
          </a:xfrm>
          <a:prstGeom prst="roundRect">
            <a:avLst>
              <a:gd name="adj" fmla="val 6793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5"/>
          <p:cNvSpPr/>
          <p:nvPr/>
        </p:nvSpPr>
        <p:spPr>
          <a:xfrm>
            <a:off x="7575550" y="2576612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575550" y="2866132"/>
            <a:ext cx="14605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575550" y="3186113"/>
            <a:ext cx="146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Actions valida el modelo solo</a:t>
            </a:r>
            <a:endParaRPr lang="en-US" sz="1200" dirty="0"/>
          </a:p>
        </p:txBody>
      </p:sp>
      <p:pic>
        <p:nvPicPr>
          <p:cNvPr id="23" name="Image 3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45600" y="3043932"/>
            <a:ext cx="254000" cy="1016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553575" y="2263577"/>
            <a:ext cx="1822450" cy="1662212"/>
          </a:xfrm>
          <a:prstGeom prst="roundRect">
            <a:avLst>
              <a:gd name="adj" fmla="val 5921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19"/>
          <p:cNvSpPr/>
          <p:nvPr/>
        </p:nvSpPr>
        <p:spPr>
          <a:xfrm>
            <a:off x="9759950" y="2469952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759950" y="2759472"/>
            <a:ext cx="14605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Competir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759950" y="3079452"/>
            <a:ext cx="14605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Tras el merge, entra a la liga al día siguiente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12800" y="4355703"/>
            <a:ext cx="10566400" cy="982861"/>
          </a:xfrm>
          <a:prstGeom prst="roundRect">
            <a:avLst>
              <a:gd name="adj" fmla="val 10337"/>
            </a:avLst>
          </a:prstGeom>
          <a:solidFill>
            <a:srgbClr val="1F2D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3"/>
          <p:cNvSpPr/>
          <p:nvPr/>
        </p:nvSpPr>
        <p:spPr>
          <a:xfrm>
            <a:off x="1092200" y="4584303"/>
            <a:ext cx="1030782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7F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predecir(historia, clima_dia): </a:t>
            </a:r>
            <a:r>
              <a:rPr lang="en-US" sz="1400" dirty="0">
                <a:solidFill>
                  <a:srgbClr val="E3B0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→ 24 valores en MWh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092200" y="4896644"/>
            <a:ext cx="103078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única regla técnica: esa función, en CPU, en menos de 2 minutos.</a:t>
            </a:r>
            <a:endParaRPr lang="en-US" sz="120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A01EEF7-D670-3C6D-5ADC-54A1CC2A69F2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35" name="Google Shape;168;p43">
            <a:extLst>
              <a:ext uri="{FF2B5EF4-FFF2-40B4-BE49-F238E27FC236}">
                <a16:creationId xmlns:a16="http://schemas.microsoft.com/office/drawing/2014/main" id="{B0338B4C-B98E-EBB3-65DD-424953A04B1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6F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RETOS PARA LOS ESTUDIANTES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De menor a mayor dificultad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41736"/>
            <a:ext cx="3414117" cy="1203920"/>
          </a:xfrm>
          <a:prstGeom prst="roundRect">
            <a:avLst>
              <a:gd name="adj" fmla="val 8175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22350" y="2348111"/>
            <a:ext cx="3091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BÁSICO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624931"/>
            <a:ext cx="309140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Promedio de los últimos 3 días a esa hora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8842" y="2141736"/>
            <a:ext cx="3414216" cy="1203920"/>
          </a:xfrm>
          <a:prstGeom prst="roundRect">
            <a:avLst>
              <a:gd name="adj" fmla="val 8175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595217" y="2348111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95217" y="2624931"/>
            <a:ext cx="309151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Nubosidad de la hora anterior y siguiente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61809" y="2141736"/>
            <a:ext cx="3414216" cy="1203920"/>
          </a:xfrm>
          <a:prstGeom prst="roundRect">
            <a:avLst>
              <a:gd name="adj" fmla="val 8175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168184" y="2348111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PÉRDIDA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68184" y="2624931"/>
            <a:ext cx="309151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 el error del mediodía pese más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5975" y="3504406"/>
            <a:ext cx="3414117" cy="1203920"/>
          </a:xfrm>
          <a:prstGeom prst="roundRect">
            <a:avLst>
              <a:gd name="adj" fmla="val 8175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022350" y="3710781"/>
            <a:ext cx="3091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· ARQUITECTURA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2350" y="3987602"/>
            <a:ext cx="309140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 pequeño o 1D-CNN en vez de GRU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88842" y="3504406"/>
            <a:ext cx="3414216" cy="1203920"/>
          </a:xfrm>
          <a:prstGeom prst="roundRect">
            <a:avLst>
              <a:gd name="adj" fmla="val 8175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595217" y="3710781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· ENSAMBLE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95217" y="3987602"/>
            <a:ext cx="309151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semillas y medir la varianza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961809" y="3504406"/>
            <a:ext cx="3414216" cy="1203920"/>
          </a:xfrm>
          <a:prstGeom prst="roundRect">
            <a:avLst>
              <a:gd name="adj" fmla="val 8175"/>
            </a:avLst>
          </a:prstGeom>
          <a:solidFill>
            <a:srgbClr val="FFFDF9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8168184" y="3710781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· PRO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68184" y="3987602"/>
            <a:ext cx="309151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Intervalos 10-50-90 con pinball loss</a:t>
            </a:r>
            <a:endParaRPr lang="en-US" sz="15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30B34B7-6F7D-4EE7-4DA7-0E393A382A3C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26" name="Google Shape;168;p43">
            <a:extLst>
              <a:ext uri="{FF2B5EF4-FFF2-40B4-BE49-F238E27FC236}">
                <a16:creationId xmlns:a16="http://schemas.microsoft.com/office/drawing/2014/main" id="{A4B48DDB-70EC-DCAF-E11E-BBC05E507BB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 COMO ANALISTA DE LA LIGA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D2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Escribe @claude en un issue o PR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38561"/>
            <a:ext cx="10566400" cy="640060"/>
          </a:xfrm>
          <a:prstGeom prst="roundRect">
            <a:avLst>
              <a:gd name="adj" fmla="val 15874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12800" y="2138561"/>
            <a:ext cx="10566400" cy="640060"/>
          </a:xfrm>
          <a:custGeom>
            <a:avLst/>
            <a:gdLst/>
            <a:ahLst/>
            <a:cxnLst/>
            <a:rect l="l" t="t" r="r" b="b"/>
            <a:pathLst>
              <a:path w="10566400" h="640060">
                <a:moveTo>
                  <a:pt x="101600" y="640060"/>
                </a:moveTo>
                <a:lnTo>
                  <a:pt x="101600" y="64006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63500" hR="101600" stAng="16200000" swAng="-5400000"/>
                <a:lnTo>
                  <a:pt x="38100" y="538460"/>
                </a:lnTo>
                <a:arcTo wR="63500" hR="101600" stAng="10800000" swAng="-5400000"/>
                <a:close/>
              </a:path>
            </a:pathLst>
          </a:custGeom>
          <a:solidFill>
            <a:srgbClr val="B0512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104900" y="2316361"/>
            <a:ext cx="1032090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“@claude ¿por qué todos los modelos fallaron ayer? Revisa el clima y los datos.”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2905621"/>
            <a:ext cx="10566400" cy="640060"/>
          </a:xfrm>
          <a:prstGeom prst="roundRect">
            <a:avLst>
              <a:gd name="adj" fmla="val 15874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12800" y="2905621"/>
            <a:ext cx="10566400" cy="640060"/>
          </a:xfrm>
          <a:custGeom>
            <a:avLst/>
            <a:gdLst/>
            <a:ahLst/>
            <a:cxnLst/>
            <a:rect l="l" t="t" r="r" b="b"/>
            <a:pathLst>
              <a:path w="10566400" h="640060">
                <a:moveTo>
                  <a:pt x="101600" y="640060"/>
                </a:moveTo>
                <a:lnTo>
                  <a:pt x="101600" y="64006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63500" hR="101600" stAng="16200000" swAng="-5400000"/>
                <a:lnTo>
                  <a:pt x="38100" y="538460"/>
                </a:lnTo>
                <a:arcTo wR="63500" hR="101600" stAng="10800000" swAng="-5400000"/>
                <a:close/>
              </a:path>
            </a:pathLst>
          </a:custGeom>
          <a:solidFill>
            <a:srgbClr val="4F6F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104900" y="3083421"/>
            <a:ext cx="1032090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“@claude revisa mi modelo y dime cómo reducir el error de la tarde.”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672681"/>
            <a:ext cx="10566400" cy="640060"/>
          </a:xfrm>
          <a:prstGeom prst="roundRect">
            <a:avLst>
              <a:gd name="adj" fmla="val 15874"/>
            </a:avLst>
          </a:prstGeom>
          <a:solidFill>
            <a:srgbClr val="FFFD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812800" y="3672681"/>
            <a:ext cx="10566400" cy="640060"/>
          </a:xfrm>
          <a:custGeom>
            <a:avLst/>
            <a:gdLst/>
            <a:ahLst/>
            <a:cxnLst/>
            <a:rect l="l" t="t" r="r" b="b"/>
            <a:pathLst>
              <a:path w="10566400" h="640060">
                <a:moveTo>
                  <a:pt x="101600" y="640060"/>
                </a:moveTo>
                <a:lnTo>
                  <a:pt x="101600" y="64006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63500" hR="101600" stAng="16200000" swAng="-5400000"/>
                <a:lnTo>
                  <a:pt x="38100" y="538460"/>
                </a:lnTo>
                <a:arcTo wR="63500" hR="101600" stAng="10800000" swAng="-5400000"/>
                <a:close/>
              </a:path>
            </a:pathLst>
          </a:custGeom>
          <a:solidFill>
            <a:srgbClr val="E3B04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1104900" y="3850481"/>
            <a:ext cx="1032090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F2D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“@claude agrega la radiación de la hora anterior a SolarNet y abre un PR.”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4617541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 reglas están en </a:t>
            </a:r>
            <a:r>
              <a:rPr lang="en-US" sz="1300" dirty="0">
                <a:solidFill>
                  <a:srgbClr val="B051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CLAUDE.md</a:t>
            </a:r>
            <a:r>
              <a:rPr lang="en-US" sz="1300" dirty="0">
                <a:solidFill>
                  <a:srgbClr val="4A55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no tocar predicciones/, detectar fugas de datos, explicar como profe.</a:t>
            </a:r>
            <a:endParaRPr lang="en-US" sz="1300" dirty="0"/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DDA21C8E-50EE-3831-0168-E539A837D010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18" name="Google Shape;168;p43">
            <a:extLst>
              <a:ext uri="{FF2B5EF4-FFF2-40B4-BE49-F238E27FC236}">
                <a16:creationId xmlns:a16="http://schemas.microsoft.com/office/drawing/2014/main" id="{3F070EA1-5A84-EB60-6C14-4E77B6E5531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2099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3B0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DISCUTIR AL 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639120"/>
            <a:ext cx="9810750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7F2EA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¿Quién le gana a la persistencia?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3558580"/>
            <a:ext cx="9810750" cy="1000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189992" algn="l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 entra un parque solar nuevo de 200 MW, ¿qué le pasa al modelo?</a:t>
            </a:r>
            <a:endParaRPr lang="en-US" sz="1600" dirty="0"/>
          </a:p>
          <a:p>
            <a:pPr marL="243840" indent="-189992" algn="l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¿Por qué evaluamos solo de 6 a. m. a 6 p. m.?</a:t>
            </a:r>
            <a:endParaRPr lang="en-US" sz="1600" dirty="0"/>
          </a:p>
        </p:txBody>
      </p:sp>
      <p:sp>
        <p:nvSpPr>
          <p:cNvPr id="7" name="Text 22">
            <a:extLst>
              <a:ext uri="{FF2B5EF4-FFF2-40B4-BE49-F238E27FC236}">
                <a16:creationId xmlns:a16="http://schemas.microsoft.com/office/drawing/2014/main" id="{E8AAAF39-FF9B-743F-4AB6-5CDF1CA7DC36}"/>
              </a:ext>
            </a:extLst>
          </p:cNvPr>
          <p:cNvSpPr/>
          <p:nvPr/>
        </p:nvSpPr>
        <p:spPr>
          <a:xfrm>
            <a:off x="457200" y="6537960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9" name="Google Shape;168;p43">
            <a:extLst>
              <a:ext uri="{FF2B5EF4-FFF2-40B4-BE49-F238E27FC236}">
                <a16:creationId xmlns:a16="http://schemas.microsoft.com/office/drawing/2014/main" id="{2CDC161B-894C-8B13-C3AC-5A1E93E2F219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b="3479"/>
          <a:stretch>
            <a:fillRect/>
          </a:stretch>
        </p:blipFill>
        <p:spPr>
          <a:xfrm>
            <a:off x="0" y="9325"/>
            <a:ext cx="12192000" cy="6564289"/>
          </a:xfrm>
          <a:prstGeom prst="rect">
            <a:avLst/>
          </a:prstGeom>
        </p:spPr>
      </p:pic>
      <p:sp>
        <p:nvSpPr>
          <p:cNvPr id="4" name="Text 22">
            <a:extLst>
              <a:ext uri="{FF2B5EF4-FFF2-40B4-BE49-F238E27FC236}">
                <a16:creationId xmlns:a16="http://schemas.microsoft.com/office/drawing/2014/main" id="{BE4D7E49-D830-AF1E-97E8-417B906F8728}"/>
              </a:ext>
            </a:extLst>
          </p:cNvPr>
          <p:cNvSpPr/>
          <p:nvPr/>
        </p:nvSpPr>
        <p:spPr>
          <a:xfrm>
            <a:off x="0" y="6573614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6" name="Google Shape;168;p43">
            <a:extLst>
              <a:ext uri="{FF2B5EF4-FFF2-40B4-BE49-F238E27FC236}">
                <a16:creationId xmlns:a16="http://schemas.microsoft.com/office/drawing/2014/main" id="{7575F9B4-8E37-B7FA-AD67-6555997D714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33"/>
          <a:stretch>
            <a:fillRect/>
          </a:stretch>
        </p:blipFill>
        <p:spPr>
          <a:xfrm>
            <a:off x="0" y="-300"/>
            <a:ext cx="12192000" cy="6574199"/>
          </a:xfrm>
          <a:prstGeom prst="rect">
            <a:avLst/>
          </a:prstGeom>
        </p:spPr>
      </p:pic>
      <p:sp>
        <p:nvSpPr>
          <p:cNvPr id="4" name="Text 22">
            <a:extLst>
              <a:ext uri="{FF2B5EF4-FFF2-40B4-BE49-F238E27FC236}">
                <a16:creationId xmlns:a16="http://schemas.microsoft.com/office/drawing/2014/main" id="{E5DA95EA-63C9-6B35-5B1B-B65A88FAF34D}"/>
              </a:ext>
            </a:extLst>
          </p:cNvPr>
          <p:cNvSpPr/>
          <p:nvPr/>
        </p:nvSpPr>
        <p:spPr>
          <a:xfrm>
            <a:off x="0" y="6573614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6" name="Google Shape;168;p43">
            <a:extLst>
              <a:ext uri="{FF2B5EF4-FFF2-40B4-BE49-F238E27FC236}">
                <a16:creationId xmlns:a16="http://schemas.microsoft.com/office/drawing/2014/main" id="{3AF43186-99B5-E352-8DD0-23FC68B8601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b="3479"/>
          <a:stretch>
            <a:fillRect/>
          </a:stretch>
        </p:blipFill>
        <p:spPr>
          <a:xfrm>
            <a:off x="0" y="9325"/>
            <a:ext cx="12192000" cy="6564289"/>
          </a:xfrm>
          <a:prstGeom prst="rect">
            <a:avLst/>
          </a:prstGeom>
        </p:spPr>
      </p:pic>
      <p:sp>
        <p:nvSpPr>
          <p:cNvPr id="4" name="Text 22">
            <a:extLst>
              <a:ext uri="{FF2B5EF4-FFF2-40B4-BE49-F238E27FC236}">
                <a16:creationId xmlns:a16="http://schemas.microsoft.com/office/drawing/2014/main" id="{D3870C95-FF66-1409-0A53-6EA3AE7C61CA}"/>
              </a:ext>
            </a:extLst>
          </p:cNvPr>
          <p:cNvSpPr/>
          <p:nvPr/>
        </p:nvSpPr>
        <p:spPr>
          <a:xfrm>
            <a:off x="0" y="6573614"/>
            <a:ext cx="1646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Juan C. Vega – PhD student</a:t>
            </a:r>
            <a:endParaRPr lang="en-US" sz="900" dirty="0"/>
          </a:p>
        </p:txBody>
      </p:sp>
      <p:pic>
        <p:nvPicPr>
          <p:cNvPr id="6" name="Google Shape;168;p43">
            <a:extLst>
              <a:ext uri="{FF2B5EF4-FFF2-40B4-BE49-F238E27FC236}">
                <a16:creationId xmlns:a16="http://schemas.microsoft.com/office/drawing/2014/main" id="{859F541F-9242-D0C5-9E40-B6A7255EFA4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92175" y="6602774"/>
            <a:ext cx="2160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2269</Words>
  <Application>Microsoft Office PowerPoint</Application>
  <PresentationFormat>Panorámica</PresentationFormat>
  <Paragraphs>274</Paragraphs>
  <Slides>22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Arial</vt:lpstr>
      <vt:lpstr>Calibri</vt:lpstr>
      <vt:lpstr>DM Sans</vt:lpstr>
      <vt:lpstr>Domine</vt:lpstr>
      <vt:lpstr>JetBrains Mono</vt:lpstr>
      <vt:lpstr>Source Sans Pro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Liga de Pronóstico Solar Colombia</dc:title>
  <dc:subject>PptxGenJS Presentation</dc:subject>
  <dc:creator>PptxGenJS</dc:creator>
  <cp:lastModifiedBy>Juan Carlos Vega Delgado</cp:lastModifiedBy>
  <cp:revision>4</cp:revision>
  <dcterms:created xsi:type="dcterms:W3CDTF">2026-09-24T21:47:21Z</dcterms:created>
  <dcterms:modified xsi:type="dcterms:W3CDTF">2026-09-24T22:36:15Z</dcterms:modified>
</cp:coreProperties>
</file>